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307" r:id="rId3"/>
    <p:sldId id="291" r:id="rId4"/>
    <p:sldId id="300" r:id="rId5"/>
    <p:sldId id="283" r:id="rId6"/>
    <p:sldId id="302" r:id="rId7"/>
    <p:sldId id="312" r:id="rId8"/>
    <p:sldId id="310" r:id="rId9"/>
    <p:sldId id="288" r:id="rId10"/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71AADD-1EC7-4D66-B95D-29CCA41D3923}" v="20" dt="2026-10-28T14:02:40.055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55" autoAdjust="0"/>
    <p:restoredTop sz="94632"/>
  </p:normalViewPr>
  <p:slideViewPr>
    <p:cSldViewPr snapToGrid="0">
      <p:cViewPr varScale="1">
        <p:scale>
          <a:sx n="59" d="100"/>
          <a:sy n="59" d="100"/>
        </p:scale>
        <p:origin x="9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261C6-C874-4266-8DA4-D5C8AB8D757A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51400-28A9-47BE-8674-65E13802E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14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51400-28A9-47BE-8674-65E13802E5D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36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710A6-DCAC-4770-83E0-DC1288B011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89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710A6-DCAC-4770-83E0-DC1288B0111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72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ADA246-63D0-4FD0-A280-893A2FFCA6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66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4BF06-524A-6401-A495-16A616BD9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4DB02A-4345-4B0E-A259-795B853FE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76980-3BEF-D289-3F02-3B8BC6185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A774B-D9F7-A3EC-99DD-01CCE92D4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AE9A4-4498-BD82-90B3-78DF4E372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6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02AD6-E9CE-0469-B849-E069F883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12618-A489-700C-4A95-F88C047B5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A3B09-16AC-8B0C-A871-28638382C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D2FBC-6B9A-BC62-C4E8-774A393F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BB0CC-5D3E-A812-F40A-2479FDE80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19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C758E-81FC-2550-4DB2-4A0A87C51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45C59-0B65-44ED-8F05-ADF03E860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97C44-7D3C-DF93-27BE-2E055927A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BE15A-329A-D197-0704-1F72F4E6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B5C4E-ABB5-92D8-D8B6-B7A0EE907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69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1EE7B-257A-84F1-EE28-67F215CC9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F171D-FD09-7D24-85BF-7B23934652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D7845-0390-0F14-8414-ECEFA635C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356B7-7D6E-2F8D-52A8-CDC59538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EEF2E-2C23-D99A-F6D2-D159182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E7D96-DDA1-62FC-36C7-66ACD6D1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1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FEFD1-6BDB-E62F-940F-CD24FDB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44920-D62C-2595-0973-C8A85841A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EA9EE-DAB5-4B72-FFC2-E92D4F69F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1EE19A-29C9-B95F-4A85-600858B71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CD92B9-0AA8-BABA-3ECB-D6945A8F5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C92597-DF28-10AA-9494-9757D03AC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24D688-2D8E-1C49-B054-A961274F4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B00A23-3E63-A391-E4B1-5EAE0886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17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26076-7CFD-7AB4-ED45-6E3C26F5D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C34127-26CD-604A-4189-0C55D81FC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2E560E-8896-CA8D-75D2-0B19FE9F9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847A4-0BD0-0E52-4996-D205C9D4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81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716F0A-293F-F5EB-0D16-74A11780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AE8E-FD6D-5FAE-C6F3-3C1B00FF4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463EA-F731-7E96-BB4C-0FA3C8C44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8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4173F-984A-76F5-F92F-3B1EF833D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7A59C-8FD8-4D8F-A490-DA39EC1D2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D85107-47C4-89AF-2C20-11D94F7F5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B83C2-38FB-6994-B403-DA11AE2A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B46C8-949C-18CA-0966-C51040A7A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DE7A8-5408-6196-993C-1274BA3F1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68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40DCC-C845-E6CA-21F9-3B477F35B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9B6B1E-E5B3-0FB2-BA37-DD04B2F31F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BE623-86B6-28C8-AF9A-2121A2ABB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B0D6C-E093-9F7D-791F-BB8A52950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1817E-C511-3B0C-F8BD-03B52E73D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091EA-B629-7091-AC0B-36BD9F5E5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5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42479-3DBF-A7DF-DD8A-C9F709C85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79878-211A-6389-B948-B7BFA7773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0074F-A418-DD7F-B1CE-C1546B210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D037A-67BF-7F41-2BB1-5B8B4076C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1442B-C4A0-D453-6261-9A98F608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02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60C064-9ECE-AE5F-E1FC-1CB3CACA77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FE698-631D-7A03-F265-7BE8CFF19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D4F8-AC0B-8E1E-5055-C7D5F4B14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2D670-FBC3-4F13-54BB-1565A59D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5F98A-A76B-3D6D-1A6A-996CADF38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10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47011D-9363-346A-D42A-442CA2806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43261-C74C-E799-D271-B1BF5C675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4FD77-3BE2-24F8-F97D-709B06958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247B87-E33C-43FB-81C0-B9993A325063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A0657-1E67-F183-DC7C-F885D8B2AA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1C978-2014-7708-3C34-79C18219C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7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93847" y="4919577"/>
            <a:ext cx="4343399" cy="1787669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71450" algn="ctr">
              <a:lnSpc>
                <a:spcPct val="100000"/>
              </a:lnSpc>
              <a:spcBef>
                <a:spcPts val="620"/>
              </a:spcBef>
            </a:pPr>
            <a:r>
              <a:rPr sz="2400" i="1" spc="-10" dirty="0">
                <a:solidFill>
                  <a:srgbClr val="0C0C0C"/>
                </a:solidFill>
                <a:latin typeface="Times New Roman"/>
                <a:cs typeface="Times New Roman"/>
              </a:rPr>
              <a:t>Presented</a:t>
            </a:r>
            <a:r>
              <a:rPr sz="2400" i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i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  <a:endParaRPr lang="en-US" sz="2400" i="1" spc="-25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IN" sz="2400" spc="-25" dirty="0">
                <a:solidFill>
                  <a:srgbClr val="0C0C0C"/>
                </a:solidFill>
                <a:latin typeface="Times New Roman"/>
                <a:cs typeface="Times New Roman"/>
              </a:rPr>
              <a:t>           P.Mohitha-192324025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IN" sz="2400" spc="-25" dirty="0">
                <a:solidFill>
                  <a:srgbClr val="0C0C0C"/>
                </a:solidFill>
                <a:latin typeface="Times New Roman"/>
                <a:cs typeface="Times New Roman"/>
              </a:rPr>
              <a:t>           M.Manasa-192425189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IN" sz="2400" spc="-25" dirty="0">
                <a:solidFill>
                  <a:srgbClr val="0C0C0C"/>
                </a:solidFill>
                <a:latin typeface="Times New Roman"/>
                <a:cs typeface="Times New Roman"/>
              </a:rPr>
              <a:t>           K.Yasaswini-192324042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0912" y="474733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09928" y="410343"/>
            <a:ext cx="1520113" cy="13428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869473" y="1841997"/>
            <a:ext cx="11223920" cy="1999906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0" marR="812800" indent="0" algn="ctr">
              <a:lnSpc>
                <a:spcPct val="100000"/>
              </a:lnSpc>
              <a:spcBef>
                <a:spcPts val="1055"/>
              </a:spcBef>
              <a:buNone/>
            </a:pPr>
            <a:r>
              <a:rPr lang="en-US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Design and Development of a Fake Website Detection and Cybersecurity Risk Assessment Platform Using Machine Learning and URL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812800" indent="0" algn="ctr">
              <a:lnSpc>
                <a:spcPct val="100000"/>
              </a:lnSpc>
              <a:spcBef>
                <a:spcPts val="1055"/>
              </a:spcBef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76837" y="397890"/>
            <a:ext cx="40170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46479" y="1016060"/>
            <a:ext cx="82777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315" marR="5080" indent="-1111250" algn="ctr">
              <a:lnSpc>
                <a:spcPct val="100000"/>
              </a:lnSpc>
              <a:spcBef>
                <a:spcPts val="100"/>
              </a:spcBef>
            </a:pPr>
            <a:r>
              <a:rPr sz="2000" b="1" spc="-55" dirty="0">
                <a:latin typeface="Times New Roman"/>
                <a:cs typeface="Times New Roman"/>
              </a:rPr>
              <a:t>SAVEETHA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lang="en-US" sz="2000" b="1" spc="-1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dirty="0">
                <a:latin typeface="Times New Roman"/>
                <a:cs typeface="Times New Roman"/>
              </a:rPr>
              <a:t> OF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MEDICAL</a:t>
            </a:r>
            <a:r>
              <a:rPr lang="en-US" sz="2000" b="1" spc="-25" dirty="0">
                <a:latin typeface="Times New Roman"/>
                <a:cs typeface="Times New Roman"/>
              </a:rPr>
              <a:t> </a:t>
            </a:r>
            <a:r>
              <a:rPr sz="2000" b="1" spc="-22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 TECHNICAL</a:t>
            </a:r>
            <a:r>
              <a:rPr lang="en-US" sz="2000" b="1" spc="-25" dirty="0">
                <a:latin typeface="Times New Roman"/>
                <a:cs typeface="Times New Roman"/>
              </a:rPr>
              <a:t> 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SCIENCES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D1E7D-30CD-1AD9-B818-0D96B874CCA3}"/>
              </a:ext>
            </a:extLst>
          </p:cNvPr>
          <p:cNvSpPr txBox="1"/>
          <p:nvPr/>
        </p:nvSpPr>
        <p:spPr>
          <a:xfrm>
            <a:off x="760616" y="4858972"/>
            <a:ext cx="382016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algn="ctr">
              <a:lnSpc>
                <a:spcPct val="100000"/>
              </a:lnSpc>
              <a:spcBef>
                <a:spcPts val="620"/>
              </a:spcBef>
            </a:pPr>
            <a:r>
              <a:rPr lang="en-US" sz="2400" i="1" spc="-10" dirty="0">
                <a:solidFill>
                  <a:srgbClr val="0C0C0C"/>
                </a:solidFill>
                <a:latin typeface="Times New Roman"/>
                <a:cs typeface="Times New Roman"/>
              </a:rPr>
              <a:t>Guided</a:t>
            </a:r>
            <a:r>
              <a:rPr lang="en-US" sz="2400" i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2400" i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Dr. </a:t>
            </a:r>
            <a:r>
              <a:rPr lang="en-US" sz="2400" b="1" spc="-25" dirty="0" err="1">
                <a:solidFill>
                  <a:srgbClr val="0C0C0C"/>
                </a:solidFill>
                <a:latin typeface="Times New Roman"/>
                <a:cs typeface="Times New Roman"/>
              </a:rPr>
              <a:t>Krishnaraj</a:t>
            </a:r>
            <a:r>
              <a:rPr lang="en-US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 Mony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Associate Professor/CSE</a:t>
            </a:r>
            <a:endParaRPr lang="en-US" sz="2400" b="1" dirty="0">
              <a:latin typeface="Times New Roman"/>
              <a:cs typeface="Times New Roman"/>
            </a:endParaRP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endParaRPr lang="en-US" sz="2400" b="1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2DF3EC-29F0-2899-A22C-844351DA543C}"/>
              </a:ext>
            </a:extLst>
          </p:cNvPr>
          <p:cNvSpPr txBox="1"/>
          <p:nvPr/>
        </p:nvSpPr>
        <p:spPr>
          <a:xfrm>
            <a:off x="2362834" y="3447408"/>
            <a:ext cx="704501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5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CSA4315 – Internet Programming</a:t>
            </a:r>
          </a:p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: 29/10/2026          Batch :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57F31-D3AF-B52F-A2BD-E8777E4D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7FD41B-EDC8-670C-E8B5-F0DD19EB4C8B}"/>
              </a:ext>
            </a:extLst>
          </p:cNvPr>
          <p:cNvSpPr txBox="1"/>
          <p:nvPr/>
        </p:nvSpPr>
        <p:spPr>
          <a:xfrm>
            <a:off x="-157734" y="45429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FE09E4A-60B1-488D-173F-29EDA0E1957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A4C89D2-4AC4-C0E2-9A44-A0305FCA50C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8045CEB3-3154-BC91-5ECD-890C06CEC0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FCC9CA0-F155-2A91-3908-6B6BC9E3C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974" y="1663795"/>
            <a:ext cx="7191997" cy="509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websites are created to cheat users and steal personal information.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websites may steal passwords, banking details, and other sensitive data.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helps identify fake websites by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their URLs and features.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checks website URLs and classifies them as legitimate or suspicious.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helps users identify potential threats and browse the internet more safely.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Iが「偽サイト」を見抜く！AIでインターネット詐欺を防ぐセキュリティ対策 - AIマスターになろう！">
            <a:extLst>
              <a:ext uri="{FF2B5EF4-FFF2-40B4-BE49-F238E27FC236}">
                <a16:creationId xmlns:a16="http://schemas.microsoft.com/office/drawing/2014/main" id="{FDC72444-F95C-4B38-5153-3C89E8130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1256" y="2046514"/>
            <a:ext cx="3784769" cy="390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927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18C71-17AD-0293-9063-96ECF6F51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34F3F486-03FC-FF76-400E-D1B75F7119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C875759-AEC6-3712-4A08-1B2E514FCBA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FE95E641-CBFD-5F4C-E55B-D6CB75CEE1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780770-556C-8987-AAC1-638A97345E10}"/>
              </a:ext>
            </a:extLst>
          </p:cNvPr>
          <p:cNvSpPr txBox="1"/>
          <p:nvPr/>
        </p:nvSpPr>
        <p:spPr>
          <a:xfrm>
            <a:off x="0" y="515389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E0EDC05-E64D-B187-F795-B69C5DDBC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" y="2115595"/>
            <a:ext cx="6827218" cy="5351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fake and phishing websites using machine learning.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URLs and identify suspicious website features.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classify websites as legitimate or fake.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assess cybersecurity risks and warn users about potential threats.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online safety and protect users from website-based fraud.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680960" y="1828800"/>
            <a:ext cx="4023360" cy="713232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  Data Collection &amp; Preprocessing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92640" y="2542032"/>
            <a:ext cx="0" cy="274320"/>
          </a:xfrm>
          <a:prstGeom prst="line">
            <a:avLst/>
          </a:prstGeom>
          <a:ln w="2540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680960" y="2816352"/>
            <a:ext cx="4023360" cy="713232"/>
          </a:xfrm>
          <a:prstGeom prst="roundRect">
            <a:avLst/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  URL Analysis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92640" y="3529584"/>
            <a:ext cx="0" cy="274320"/>
          </a:xfrm>
          <a:prstGeom prst="line">
            <a:avLst/>
          </a:prstGeom>
          <a:ln w="2540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680960" y="3803904"/>
            <a:ext cx="4023360" cy="713232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  ML Model Development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92640" y="4517136"/>
            <a:ext cx="0" cy="274320"/>
          </a:xfrm>
          <a:prstGeom prst="line">
            <a:avLst/>
          </a:prstGeom>
          <a:ln w="2540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680960" y="4791456"/>
            <a:ext cx="4023360" cy="713232"/>
          </a:xfrm>
          <a:prstGeom prst="roundRect">
            <a:avLst/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  Cybersecurity Risk Assessment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92640" y="5504688"/>
            <a:ext cx="0" cy="274320"/>
          </a:xfrm>
          <a:prstGeom prst="line">
            <a:avLst/>
          </a:prstGeom>
          <a:ln w="2540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680960" y="5779008"/>
            <a:ext cx="4023360" cy="713232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  Platform Design &amp; Evaluation</a:t>
            </a:r>
          </a:p>
        </p:txBody>
      </p:sp>
    </p:spTree>
    <p:extLst>
      <p:ext uri="{BB962C8B-B14F-4D97-AF65-F5344CB8AC3E}">
        <p14:creationId xmlns:p14="http://schemas.microsoft.com/office/powerpoint/2010/main" val="78539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9A1F6-9636-94BA-378A-35A0DBCD7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01EAAB-4143-B927-86E6-4A9D1826CC56}"/>
              </a:ext>
            </a:extLst>
          </p:cNvPr>
          <p:cNvSpPr txBox="1"/>
          <p:nvPr/>
        </p:nvSpPr>
        <p:spPr>
          <a:xfrm>
            <a:off x="1" y="61500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A23FA88E-B5D1-FFA8-EFA4-FEC14A444A6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9629" y="210948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9607519D-C4FC-7304-0CE8-EABE851C706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52492" y="266723"/>
            <a:ext cx="1520062" cy="134289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C6A09F-9EAA-FE2D-2B59-4E3B9A294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348966"/>
              </p:ext>
            </p:extLst>
          </p:nvPr>
        </p:nvGraphicFramePr>
        <p:xfrm>
          <a:off x="545473" y="1902129"/>
          <a:ext cx="11101054" cy="441992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1566">
                  <a:extLst>
                    <a:ext uri="{9D8B030D-6E8A-4147-A177-3AD203B41FA5}">
                      <a16:colId xmlns:a16="http://schemas.microsoft.com/office/drawing/2014/main" val="3308845341"/>
                    </a:ext>
                  </a:extLst>
                </a:gridCol>
                <a:gridCol w="2981240">
                  <a:extLst>
                    <a:ext uri="{9D8B030D-6E8A-4147-A177-3AD203B41FA5}">
                      <a16:colId xmlns:a16="http://schemas.microsoft.com/office/drawing/2014/main" val="1591102623"/>
                    </a:ext>
                  </a:extLst>
                </a:gridCol>
                <a:gridCol w="1889562">
                  <a:extLst>
                    <a:ext uri="{9D8B030D-6E8A-4147-A177-3AD203B41FA5}">
                      <a16:colId xmlns:a16="http://schemas.microsoft.com/office/drawing/2014/main" val="2944023696"/>
                    </a:ext>
                  </a:extLst>
                </a:gridCol>
                <a:gridCol w="955605">
                  <a:extLst>
                    <a:ext uri="{9D8B030D-6E8A-4147-A177-3AD203B41FA5}">
                      <a16:colId xmlns:a16="http://schemas.microsoft.com/office/drawing/2014/main" val="161964537"/>
                    </a:ext>
                  </a:extLst>
                </a:gridCol>
                <a:gridCol w="1985431">
                  <a:extLst>
                    <a:ext uri="{9D8B030D-6E8A-4147-A177-3AD203B41FA5}">
                      <a16:colId xmlns:a16="http://schemas.microsoft.com/office/drawing/2014/main" val="2188369101"/>
                    </a:ext>
                  </a:extLst>
                </a:gridCol>
                <a:gridCol w="2727650">
                  <a:extLst>
                    <a:ext uri="{9D8B030D-6E8A-4147-A177-3AD203B41FA5}">
                      <a16:colId xmlns:a16="http://schemas.microsoft.com/office/drawing/2014/main" val="3314109689"/>
                    </a:ext>
                  </a:extLst>
                </a:gridCol>
              </a:tblGrid>
              <a:tr h="291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Addressed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435616"/>
                  </a:ext>
                </a:extLst>
              </a:tr>
              <a:tr h="952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Phishing Websites Detection Based on URL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Sahingoz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Natural Language Processing (NLP), 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Detecting phishing websites by analyzing URL patterns and characteristics.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242194"/>
                  </a:ext>
                </a:extLst>
              </a:tr>
              <a:tr h="823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Effective Machine Learning-Based Approach for Phishing Website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authors to be verified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Forest, Decision Tree, 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Identifying phishing websites and improving classification accuracy.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5820314"/>
                  </a:ext>
                </a:extLst>
              </a:tr>
              <a:tr h="693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Phishing Website Detection Using Machine Learning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authors to be verified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Regression, Random Forest, 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Classifying websites as legitimate or phishing based on URL features.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1191319"/>
                  </a:ext>
                </a:extLst>
              </a:tr>
              <a:tr h="823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URL-Based Phishing Detection Using 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authors to be verified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Learning, Neural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Detecting suspicious URLs and identifying potential phishing websites.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009301"/>
                  </a:ext>
                </a:extLst>
              </a:tr>
              <a:tr h="823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Machine Learning for Phishing Website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authors to be verified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AI, Feature Importance, 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Explaining why a website is classified as suspicious and helping users understand cybersecurity risks.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8429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342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F1BD3-2D47-67BD-747F-3A4FF0C6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97D9B-89BA-EFF3-7CCE-BC7083AAC52C}"/>
              </a:ext>
            </a:extLst>
          </p:cNvPr>
          <p:cNvSpPr txBox="1"/>
          <p:nvPr/>
        </p:nvSpPr>
        <p:spPr>
          <a:xfrm>
            <a:off x="1" y="61500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9B4382E-0511-23A6-19A2-74771568EF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9D3B425-FE12-9479-DDB1-E571786737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A74BF758-6663-5913-D4E6-87DBD7801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783" y="1957904"/>
            <a:ext cx="10363199" cy="3597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Blacklist-Based Protection: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Browsers and tools mainly block URLs already listed as malicious.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Delayed Detection: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Fake websites are short-lived and may cause harm before being reported.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Manual Verification: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Users must inspect URLs and certificates themselves, which is error-prone.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Single-Aspect Analysis: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Many tools check only the URL or only the certificate, missing combined signals.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Explanation or Unified Report: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Most tools give only an allow/block decision, with no explanation or unified report.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278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6A81E-1B63-E255-7143-927A87982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C6AA83FF-3DB0-9CB1-14FD-7CCCAD80882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B21EE01-EE9D-DB4E-3649-BAA5D32B535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8EFDF4-D7EC-F10B-9AFD-00DFCB0FDF60}"/>
              </a:ext>
            </a:extLst>
          </p:cNvPr>
          <p:cNvSpPr txBox="1"/>
          <p:nvPr/>
        </p:nvSpPr>
        <p:spPr>
          <a:xfrm>
            <a:off x="0" y="615006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alt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sz="36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07DA07-98ED-BB62-705A-0E80F7FE5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499" y="1815861"/>
            <a:ext cx="9979029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ML-Based Detection Engine: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trained machine learning classifier labels a submitted website as legitimate or fake.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URL Analysis: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Combines URL, domain/WHOIS, HTML content and SSL certificate features for stronger detection.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Security Checks: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Checks HTTPS and certificate validity, domain age, redirects and blacklist status, and </a:t>
            </a:r>
            <a:r>
              <a:rPr lang="en-US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summarises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the findings.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Cybersecurity Risk Assessment: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Produces a risk score and risk level with the top indicators that influenced the decision.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Web-Based Platform: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Users submit a URL and receive an instant report; scan history is stored for later review.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950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18D428A-36D4-2A11-3761-CAFD28B35556}"/>
              </a:ext>
            </a:extLst>
          </p:cNvPr>
          <p:cNvSpPr txBox="1"/>
          <p:nvPr/>
        </p:nvSpPr>
        <p:spPr>
          <a:xfrm>
            <a:off x="3546608" y="424543"/>
            <a:ext cx="6094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IN" sz="28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 </a:t>
            </a:r>
            <a:endParaRPr lang="en-IN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416D525E-3788-EEB5-456D-458B2B17199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0E53BAD5-E1FD-667C-6BD4-2B42514E4B4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B8E3F5-E702-A441-3FC4-6F48E196C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1534540"/>
            <a:ext cx="10287000" cy="522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11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6AF342A-3EFF-DA3F-DAD4-A35B5FA797EF}"/>
              </a:ext>
            </a:extLst>
          </p:cNvPr>
          <p:cNvSpPr txBox="1"/>
          <p:nvPr/>
        </p:nvSpPr>
        <p:spPr>
          <a:xfrm>
            <a:off x="4300546" y="491835"/>
            <a:ext cx="609407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DE7A5A73-E751-ABA4-7FAB-0D21F6D81A3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9" name="object 5">
            <a:extLst>
              <a:ext uri="{FF2B5EF4-FFF2-40B4-BE49-F238E27FC236}">
                <a16:creationId xmlns:a16="http://schemas.microsoft.com/office/drawing/2014/main" id="{E849C555-954C-7600-7ABE-721CC7B990F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701A61-2711-9234-32E0-0083552148A9}"/>
              </a:ext>
            </a:extLst>
          </p:cNvPr>
          <p:cNvSpPr txBox="1"/>
          <p:nvPr/>
        </p:nvSpPr>
        <p:spPr>
          <a:xfrm>
            <a:off x="2008414" y="1980924"/>
            <a:ext cx="8175171" cy="3271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detect fake and phishing websites using machine learning.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 analysis helps identify suspicious website features.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classifies websites as legitimate or potentially malicious.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alerts users about possible cybersecurity risks.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improves online safety and helps protect users from cyber fraud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5142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9FDA1-45B4-C727-6F2B-5AC15CCCB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4A55326D-569C-9DDD-0204-61E73EEFAC9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AF2C6699-20DF-DAFE-4B4A-2035CB1BD9B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D8D035-8B7A-F12E-7AB5-9EC906849E4B}"/>
              </a:ext>
            </a:extLst>
          </p:cNvPr>
          <p:cNvSpPr txBox="1"/>
          <p:nvPr/>
        </p:nvSpPr>
        <p:spPr>
          <a:xfrm>
            <a:off x="-211016" y="539925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7D85B-8A76-CBA3-7DCA-0D57390194D2}"/>
              </a:ext>
            </a:extLst>
          </p:cNvPr>
          <p:cNvSpPr txBox="1"/>
          <p:nvPr/>
        </p:nvSpPr>
        <p:spPr>
          <a:xfrm>
            <a:off x="720591" y="1882822"/>
            <a:ext cx="1075081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Dutta, A. K. (2021). “Detecting Phishing Websites Using Machine Learning Technique.” PLOS ONE.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Safi, A., &amp; Singh, S. (2023). “A Systematic Literature Review on Phishing Website Detection Techniques.” Journal of King Saud University – Computer and Information Sciences.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Wei, W., et al. (2020). “Accurate and Fast URL Phishing Detector: A Convolutional Neural Network Approach.” Computer Networks.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 Phishing Detection Using Machine Learning Techniques Based on URLs Lexical Analysis. (2021). IEEE International Conference on Information and Communication Systems (ICICS).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“Phishing or Not Phishing? A Survey on the Detection of Phishing Websites.” (2023). IEEE Access, 11, 18499–18519.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8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3638C3-FC1E-115B-AB11-EB3DABA86C37}"/>
              </a:ext>
            </a:extLst>
          </p:cNvPr>
          <p:cNvSpPr txBox="1"/>
          <p:nvPr/>
        </p:nvSpPr>
        <p:spPr>
          <a:xfrm>
            <a:off x="2909455" y="2510444"/>
            <a:ext cx="707097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4763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757</Words>
  <Application>Microsoft Office PowerPoint</Application>
  <PresentationFormat>Widescreen</PresentationFormat>
  <Paragraphs>101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SIMATS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</dc:title>
  <dc:creator>shalini kuppam</dc:creator>
  <cp:lastModifiedBy>manasa mamidi</cp:lastModifiedBy>
  <cp:revision>12</cp:revision>
  <dcterms:created xsi:type="dcterms:W3CDTF">2026-05-12T03:48:28Z</dcterms:created>
  <dcterms:modified xsi:type="dcterms:W3CDTF">2026-10-29T05:00:00Z</dcterms:modified>
</cp:coreProperties>
</file>